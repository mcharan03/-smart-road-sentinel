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</p:sldIdLst>
  <p:sldSz cx="12192000" cy="6858000"/>
  <p:notesSz cx="6858000" cy="9144000"/>
  <p:embeddedFontLst>
    <p:embeddedFont>
      <p:font typeface="Blackadder ITC" panose="04020505051007020D02" pitchFamily="82" charset="0"/>
      <p:regular r:id="rId11"/>
    </p:embeddedFont>
    <p:embeddedFont>
      <p:font typeface="Garamond" panose="02020404030301010803" pitchFamily="18" charset="0"/>
      <p:regular r:id="rId12"/>
      <p:bold r:id="rId13"/>
      <p:italic r:id="rId14"/>
    </p:embeddedFont>
    <p:embeddedFont>
      <p:font typeface="Oswald" panose="00000500000000000000" pitchFamily="2" charset="0"/>
      <p:regular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3874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4" d="100"/>
          <a:sy n="84" d="100"/>
        </p:scale>
        <p:origin x="629" y="48"/>
      </p:cViewPr>
      <p:guideLst>
        <p:guide orient="horz" pos="2160"/>
        <p:guide pos="38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 panose="020F050202020403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 panose="020F050202020403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 panose="020F050202020403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 panose="020F050202020403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245686" y="735807"/>
            <a:ext cx="8534400" cy="813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TITLE PAGE</a:t>
            </a:r>
            <a:endParaRPr sz="28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0" name="Google Shape;90;p13"/>
          <p:cNvSpPr txBox="1">
            <a:spLocks noGrp="1"/>
          </p:cNvSpPr>
          <p:nvPr>
            <p:ph type="ctrTitle"/>
          </p:nvPr>
        </p:nvSpPr>
        <p:spPr>
          <a:xfrm>
            <a:off x="331286" y="167277"/>
            <a:ext cx="10363200" cy="138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IDEATHON-2025</a:t>
            </a:r>
            <a:endParaRPr sz="4000" b="1">
              <a:solidFill>
                <a:schemeClr val="dk2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894909" y="1850730"/>
            <a:ext cx="10950900" cy="55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IDEA Statement Title: SMART ROAD SENTINEL - AI-Powered Road Defect Detection</a:t>
            </a:r>
            <a:endParaRPr sz="18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Theme: Smart Infrastructure &amp; Urban Safety</a:t>
            </a:r>
            <a:endParaRPr sz="18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Team Name (Eg:-IDEA BREAKERS)</a:t>
            </a: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Team LEAD &amp; Co-partner Name : M Charan Kumar ,B Jeevan Reddy</a:t>
            </a:r>
            <a:endParaRPr sz="18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USN: 1CR24AD060,1CR24AD016</a:t>
            </a:r>
            <a:endParaRPr sz="18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College Name : CMR INSTITUTE OF TECHNOLOGY </a:t>
            </a:r>
            <a:endParaRPr sz="18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Email ID:-mallelacharankumar@gmail.com, bjeevanreddy751@gmail.com</a:t>
            </a:r>
            <a:endParaRPr sz="18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1800" b="1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Phone Numbers:-90362</a:t>
            </a:r>
            <a:r>
              <a:rPr lang="en-US" sz="1800" b="1" dirty="0">
                <a:solidFill>
                  <a:schemeClr val="dk1"/>
                </a:solidFill>
              </a:rPr>
              <a:t>0</a:t>
            </a:r>
            <a:r>
              <a:rPr lang="en-US" sz="1800" b="1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5526,7975141902</a:t>
            </a:r>
            <a:endParaRPr sz="2000" b="1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1333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endParaRPr sz="2400" b="1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2" name="Google Shape;92;p13" descr="C:\Users\ASIF KHAN\Desktop\IDEATHON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952987" y="167277"/>
            <a:ext cx="3040294" cy="96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6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36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IDEA TITLE</a:t>
            </a:r>
          </a:p>
        </p:txBody>
      </p:sp>
      <p:sp>
        <p:nvSpPr>
          <p:cNvPr id="100" name="Google Shape;100;p14"/>
          <p:cNvSpPr txBox="1"/>
          <p:nvPr/>
        </p:nvSpPr>
        <p:spPr>
          <a:xfrm>
            <a:off x="574150" y="1290950"/>
            <a:ext cx="11800800" cy="49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 panose="020B0604020202020204"/>
              <a:buChar char="•"/>
            </a:pPr>
            <a:r>
              <a:rPr lang="en-US" sz="32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AI-Powered Video Analysis System using Computer Vision &amp; Machine Learning</a:t>
            </a:r>
            <a:endParaRPr sz="3200" u="sng">
              <a:solidFill>
                <a:schemeClr val="dk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 panose="020B0604020202020204"/>
              <a:buChar char="•"/>
            </a:pPr>
            <a:r>
              <a:rPr lang="en-US" sz="32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Real-time detection of road defects: Potholes, Speed breakers, Cracks, Ruts, Surface deterioration</a:t>
            </a:r>
            <a:endParaRPr sz="18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 panose="020B0604020202020204"/>
              <a:buChar char="•"/>
            </a:pPr>
            <a:r>
              <a:rPr lang="en-US" sz="32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Crowdsourced data collection via dashcams/smartphones with GPS tagging</a:t>
            </a:r>
            <a:endParaRPr sz="18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 panose="020B0604020202020204"/>
              <a:buChar char="•"/>
            </a:pPr>
            <a:r>
              <a:rPr lang="en-US" sz="32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Automated city reporting dashboard for municipal authorities</a:t>
            </a:r>
            <a:endParaRPr sz="18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 panose="020B0604020202020204"/>
              <a:buChar char="•"/>
            </a:pPr>
            <a:r>
              <a:rPr lang="en-US" sz="32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Driver safety alerts and optimized route suggestions</a:t>
            </a:r>
            <a:endParaRPr sz="18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❖"/>
            </a:pPr>
            <a:r>
              <a:rPr lang="en-US" sz="32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Innovation: Proactive maintenance using citizen-generated data at zero infrastructure cost</a:t>
            </a:r>
            <a:endParaRPr sz="18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02" name="Google Shape;102;p14" descr="C:\Users\ASIF KHAN\Desktop\IDEATHON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952987" y="167277"/>
            <a:ext cx="3040294" cy="96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9" name="Google Shape;109;p1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TECHNICAL APPROACH</a:t>
            </a:r>
          </a:p>
        </p:txBody>
      </p:sp>
      <p:sp>
        <p:nvSpPr>
          <p:cNvPr id="110" name="Google Shape;110;p15"/>
          <p:cNvSpPr txBox="1"/>
          <p:nvPr/>
        </p:nvSpPr>
        <p:spPr>
          <a:xfrm>
            <a:off x="365759" y="1275936"/>
            <a:ext cx="11627521" cy="470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Tech Stack: Python, OpenCV, TensorFlow/PyTorch for ML models, Android/iOS SDK for mobile app, AWS/Firebase for cloud storage, Google Maps API for GPS integration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Process Flow: Video Input → AI Model (Computer Vision) → Defect Classification (Type &amp; Severity) → GPS Tagging → Dashboard Visualization → Alerts &amp; Reports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ML Model: CNN-based object detection (YOLO/Faster R-CNN) trained on road defect datasets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augmentation for varying weather, lighting, and camera conditions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Hybrid approach: Edge processing on device + cloud-based model refinement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12" name="Google Shape;112;p15" descr="C:\Users\ASIF KHAN\Desktop\IDEATHON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952987" y="167277"/>
            <a:ext cx="3040294" cy="96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95373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FEASIBILITY AND VIABILITY</a:t>
            </a:r>
          </a:p>
        </p:txBody>
      </p:sp>
      <p:sp>
        <p:nvSpPr>
          <p:cNvPr id="120" name="Google Shape;120;p16"/>
          <p:cNvSpPr txBox="1"/>
          <p:nvPr/>
        </p:nvSpPr>
        <p:spPr>
          <a:xfrm>
            <a:off x="304800" y="1711799"/>
            <a:ext cx="11582400" cy="44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Feasibility: Highly scalable - leverages existing smartphone penetration (80%+ in urban India) and dashcams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Low deployment cost - No new infrastructure needed, uses citizen devices</a:t>
            </a: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Proven technology - Computer Vision models for object detection are mature</a:t>
            </a: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Challenges: Camera quality variance, GPS accuracy (±5-10m), model accuracy in poor weather/lighting</a:t>
            </a: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Mitigation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Strategies</a:t>
            </a:r>
            <a:r>
              <a:rPr lang="en-US" sz="2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Data augmentation training, confidence thresholding, hybrid edge-cloud processing, user verification layer</a:t>
            </a: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Viability: Partnerships with ride-sharing platforms, municipal corporations, insurance companies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for </a:t>
            </a:r>
            <a:r>
              <a:rPr lang="en-US" sz="2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monetization</a:t>
            </a: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" name="Google Shape;121;p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2" name="Google Shape;122;p16" descr="C:\Users\ASIF KHAN\Desktop\IDEATHON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737600" y="749114"/>
            <a:ext cx="3040294" cy="96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95373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1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IMPACT AND BENEFITS</a:t>
            </a:r>
          </a:p>
        </p:txBody>
      </p:sp>
      <p:sp>
        <p:nvSpPr>
          <p:cNvPr id="130" name="Google Shape;130;p17"/>
          <p:cNvSpPr txBox="1"/>
          <p:nvPr/>
        </p:nvSpPr>
        <p:spPr>
          <a:xfrm>
            <a:off x="609600" y="1001850"/>
            <a:ext cx="11582400" cy="48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Social Impact: Safer roads, 60% reduction in road defect-related accidents, Better mobility for citizens, Enhanced transparency in governance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Economic Benefits: 40% reduction in repair costs through preventive maintenance, Faster detection-to-repair (15-20 days → 2-3 days), Lower insurance premiums, Job creation in data analysis and urban planning</a:t>
            </a: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Environmental: Reduced fuel waste from smoother roads, Optimized vehicle routing reduces emissions, Better road quality extends vehicle lifespan</a:t>
            </a: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Target Audience: 500+ Indian cities, Municipal corporations, Citizens (drivers), Insurance &amp; ride-sharing companies</a:t>
            </a: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Metrics: 50% faster defect detection, 30% cost savings, 100% road coverage vs 30% current</a:t>
            </a: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1" name="Google Shape;131;p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2" name="Google Shape;132;p17" descr="C:\Users\ASIF KHAN\Desktop\IDEATHON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962683" y="132701"/>
            <a:ext cx="3040294" cy="96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95373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RESEARCH  AND REFERENCES</a:t>
            </a:r>
          </a:p>
        </p:txBody>
      </p:sp>
      <p:sp>
        <p:nvSpPr>
          <p:cNvPr id="140" name="Google Shape;140;p18"/>
          <p:cNvSpPr txBox="1"/>
          <p:nvPr/>
        </p:nvSpPr>
        <p:spPr>
          <a:xfrm>
            <a:off x="290052" y="2045552"/>
            <a:ext cx="11720460" cy="4701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MoRTH (Ministry of Road Transport &amp; Highways) - Road Accident Statistics India 2023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NITI Aayog - Smart Cities Mission Reports</a:t>
            </a: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Research Papers: Computer Vision for Road Defect Detection (IEEE, arXiv)</a:t>
            </a: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World Bank Report - Urban Road Maintenance Costs in Developing Countries</a:t>
            </a: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-1778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Google AI - Object Detection Models (YOLO, Faster R-CNN) Documentation</a:t>
            </a: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Similar Projects: RoadLab (MIT), Pothole Detection Apps (Global implementations)</a:t>
            </a: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1" name="Google Shape;141;p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2" name="Google Shape;142;p18" descr="C:\Users\ASIF KHAN\Desktop\IDEATHON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968826" y="848565"/>
            <a:ext cx="3040294" cy="96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953734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ym typeface="+mn-ea"/>
              </a:rPr>
              <a:t>Implementation Roadmap &amp; Future Scope</a:t>
            </a:r>
            <a:endParaRPr lang="en-US" sz="36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1" name="Google Shape;141;p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7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2" name="Google Shape;142;p18" descr="C:\Users\ASIF KHAN\Desktop\IDEATHON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968826" y="848565"/>
            <a:ext cx="3040294" cy="9626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0"/>
          <p:cNvSpPr txBox="1"/>
          <p:nvPr/>
        </p:nvSpPr>
        <p:spPr>
          <a:xfrm>
            <a:off x="609600" y="2230071"/>
            <a:ext cx="10607040" cy="34867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000" dirty="0">
                <a:sym typeface="+mn-ea"/>
              </a:rPr>
              <a:t>Phase 1 (0-6 months): MVP Development - Mobile app prototype, Basic ML model training on 10,000+ road images, Pilot in 2 cities (Bangalore &amp; Delhi)</a:t>
            </a:r>
            <a:endParaRPr lang="en-US" sz="2000"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000" dirty="0">
                <a:sym typeface="+mn-ea"/>
              </a:rPr>
              <a:t>Phase 2 (6-12 months): Scale &amp; Partnerships - Integrate with Ola/Uber for fleet data, Onboard 5 municipal corporations, Achieve 85%+ detection accuracy</a:t>
            </a:r>
            <a:endParaRPr lang="en-US" sz="2000"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000" dirty="0">
                <a:sym typeface="+mn-ea"/>
              </a:rPr>
              <a:t>Phase 3 (12-24 months): National Rollout - Expand to 50+ cities, Government API for Smart Cities Mission, Predictive maintenance AI (forecast defects before they occur)</a:t>
            </a:r>
            <a:endParaRPr lang="en-US" sz="2000"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000" dirty="0">
                <a:sym typeface="+mn-ea"/>
              </a:rPr>
              <a:t>Future Innovations: AR navigation overlay showing road hazards in real-time, Blockchain for transparent defect reporting, Integration with autonomous vehicles for self-repairing road systems</a:t>
            </a:r>
            <a:endParaRPr lang="en-US" sz="2000"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2000" dirty="0">
                <a:sym typeface="+mn-ea"/>
              </a:rPr>
              <a:t>Unique Differentiator: First crowdsourced, zero-infrastructure-cost road monitoring system in India with gamification for citizen participation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>
            <a:spLocks noGrp="1"/>
          </p:cNvSpPr>
          <p:nvPr>
            <p:ph type="title"/>
          </p:nvPr>
        </p:nvSpPr>
        <p:spPr>
          <a:xfrm>
            <a:off x="609600" y="39497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lackadder ITC" panose="04020505051007020D02" charset="0"/>
                <a:cs typeface="Blackadder ITC" panose="04020505051007020D02" charset="0"/>
              </a:rPr>
              <a:t>THANK YOU</a:t>
            </a:r>
          </a:p>
        </p:txBody>
      </p:sp>
      <p:sp>
        <p:nvSpPr>
          <p:cNvPr id="156" name="Google Shape;156;p20"/>
          <p:cNvSpPr txBox="1">
            <a:spLocks noGrp="1"/>
          </p:cNvSpPr>
          <p:nvPr>
            <p:ph type="body" idx="1"/>
          </p:nvPr>
        </p:nvSpPr>
        <p:spPr>
          <a:xfrm>
            <a:off x="1146175" y="2095500"/>
            <a:ext cx="10972800" cy="228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4400">
                <a:latin typeface="Blackadder ITC" panose="04020505051007020D02" charset="0"/>
                <a:cs typeface="Blackadder ITC" panose="04020505051007020D02" charset="0"/>
                <a:sym typeface="+mn-ea"/>
              </a:rPr>
              <a:t>Building Tomorrow's Infrastructure and Tech, Today!</a:t>
            </a:r>
            <a:endParaRPr lang="en-US" sz="4400">
              <a:latin typeface="Blackadder ITC" panose="04020505051007020D02" charset="0"/>
              <a:cs typeface="Blackadder ITC" panose="04020505051007020D02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4400">
              <a:latin typeface="Blackadder ITC" panose="04020505051007020D02" charset="0"/>
              <a:cs typeface="Blackadder ITC" panose="04020505051007020D02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4400">
              <a:latin typeface="Blackadder ITC" panose="04020505051007020D02" charset="0"/>
              <a:cs typeface="Blackadder ITC" panose="04020505051007020D02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4400">
              <a:latin typeface="Blackadder ITC" panose="04020505051007020D02" charset="0"/>
              <a:cs typeface="Blackadder ITC" panose="04020505051007020D02" charset="0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endParaRPr lang="en-US">
              <a:latin typeface="Blackadder ITC" panose="04020505051007020D02" charset="0"/>
              <a:ea typeface="MS PGothic" panose="020B0600070205080204" charset="-128"/>
              <a:cs typeface="Blackadder ITC" panose="04020505051007020D02" charset="0"/>
              <a:sym typeface="MS PGothic" panose="020B0600070205080204" charset="-128"/>
            </a:endParaRPr>
          </a:p>
        </p:txBody>
      </p:sp>
      <p:sp>
        <p:nvSpPr>
          <p:cNvPr id="158" name="Google Shape;158;p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699</Words>
  <Application>Microsoft Office PowerPoint</Application>
  <PresentationFormat>Widescreen</PresentationFormat>
  <Paragraphs>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Blackadder ITC</vt:lpstr>
      <vt:lpstr>Calibri</vt:lpstr>
      <vt:lpstr>Oswald</vt:lpstr>
      <vt:lpstr>Noto Sans Symbols</vt:lpstr>
      <vt:lpstr>Garamond</vt:lpstr>
      <vt:lpstr>Times New Roman</vt:lpstr>
      <vt:lpstr>Arial</vt:lpstr>
      <vt:lpstr>Gear Drives</vt:lpstr>
      <vt:lpstr>IDEATHON-2025</vt:lpstr>
      <vt:lpstr> IDEA TITLE</vt:lpstr>
      <vt:lpstr>TECHNICAL APPROACH</vt:lpstr>
      <vt:lpstr>FEASIBILITY AND VIABILITY</vt:lpstr>
      <vt:lpstr>IMPACT AND BENEFITS</vt:lpstr>
      <vt:lpstr>RESEARCH  AND REFERENCES</vt:lpstr>
      <vt:lpstr>Implementation Roadmap &amp; 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IDEATHON-2025</dc:title>
  <dc:creator>M Charan Kumar</dc:creator>
  <cp:lastModifiedBy>M Charan Kumar</cp:lastModifiedBy>
  <cp:revision>5</cp:revision>
  <dcterms:created xsi:type="dcterms:W3CDTF">2025-10-24T11:02:42Z</dcterms:created>
  <dcterms:modified xsi:type="dcterms:W3CDTF">2025-10-24T12:01:19Z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268F78F3B1B6456CBE017B2A5239A9D3_12</vt:lpwstr>
  </property>
  <property fmtid="{D5CDD505-2E9C-101B-9397-08002B2CF9AE}" pid="3" name="KSOProductBuildVer">
    <vt:lpwstr>1033-12.2.0.21931</vt:lpwstr>
  </property>
</Properties>
</file>